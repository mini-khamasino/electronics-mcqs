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7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Shape 2"/>
          <p:cNvSpPr/>
          <p:nvPr/>
        </p:nvSpPr>
        <p:spPr>
          <a:xfrm>
            <a:off x="3200400" y="365760"/>
            <a:ext cx="2743200" cy="2743200"/>
          </a:xfrm>
          <a:prstGeom prst="ellipse">
            <a:avLst/>
          </a:prstGeom>
          <a:solidFill>
            <a:srgbClr val="1E3D7A">
              <a:alpha val="60000"/>
            </a:srgbClr>
          </a:solidFill>
          <a:ln w="12700">
            <a:solidFill>
              <a:srgbClr val="1E3D7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حقوق الإنسان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الجيل الثاني والجيل الثالث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371600" y="2560320"/>
            <a:ext cx="64008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D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الحقوق الاقتصادية والاجتماعية والثقافية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5D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الحقوق الجماعية وحقوق التضامن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i="1" dirty="0">
                <a:solidFill>
                  <a:srgbClr val="9B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القانون الدولي لحقوق الإنسان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حقوق الجيل الثاني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الحقوق الاقتصادية والاجتماعية والثقافية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D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هذه الحقوق توصف بأنها حقوق إيجابية يتطلب إعمالها تدخلاً إيجابياً من جانب الدولة لوضعها موضع التنفيذ وكفالة التمتع بها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283464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1E4DA1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 في العمل والضمان الاجتماعي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283464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Text 7"/>
          <p:cNvSpPr/>
          <p:nvPr/>
        </p:nvSpPr>
        <p:spPr>
          <a:xfrm>
            <a:off x="3200400" y="28346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 الملكية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83464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6126480" y="28346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 في مستوى معيشي مناسب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70332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274320" y="3703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 في الصحة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370332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3"/>
          <p:cNvSpPr/>
          <p:nvPr/>
        </p:nvSpPr>
        <p:spPr>
          <a:xfrm>
            <a:off x="3200400" y="3703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الحقوق الثقافية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DA1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أولاً: الحق في العمل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0" y="914400"/>
            <a:ext cx="1280160" cy="393192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 في العمل — التعريف والأهمية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يُعدّ الحق في العمل أحد الحقوق الأساسية التي يقوم عليها مبدأ حقوق وحريات الإنسان، فهو مصدر للتملك وتحقيق لشخصية الإنسان.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40880" y="2404872"/>
            <a:ext cx="457200" cy="457200"/>
          </a:xfrm>
          <a:prstGeom prst="ellipse">
            <a:avLst/>
          </a:prstGeom>
          <a:solidFill>
            <a:srgbClr val="1E4DA1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6"/>
          <p:cNvSpPr/>
          <p:nvPr/>
        </p:nvSpPr>
        <p:spPr>
          <a:xfrm>
            <a:off x="7040880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6583680" cy="530352"/>
          </a:xfrm>
          <a:prstGeom prst="roundRect">
            <a:avLst>
              <a:gd name="adj" fmla="val 10345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توفير مناصب شغل لجميع المواطنين دون تفريق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40880" y="3026664"/>
            <a:ext cx="457200" cy="457200"/>
          </a:xfrm>
          <a:prstGeom prst="ellipse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10"/>
          <p:cNvSpPr/>
          <p:nvPr/>
        </p:nvSpPr>
        <p:spPr>
          <a:xfrm>
            <a:off x="7040880" y="3026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4320" y="2953512"/>
            <a:ext cx="6583680" cy="530352"/>
          </a:xfrm>
          <a:prstGeom prst="roundRect">
            <a:avLst>
              <a:gd name="adj" fmla="val 10345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2"/>
          <p:cNvSpPr/>
          <p:nvPr/>
        </p:nvSpPr>
        <p:spPr>
          <a:xfrm>
            <a:off x="365760" y="2953512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المساواة في الأجور في نفس العمل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40880" y="3648456"/>
            <a:ext cx="457200" cy="457200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4"/>
          <p:cNvSpPr/>
          <p:nvPr/>
        </p:nvSpPr>
        <p:spPr>
          <a:xfrm>
            <a:off x="7040880" y="3648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575304"/>
            <a:ext cx="6583680" cy="530352"/>
          </a:xfrm>
          <a:prstGeom prst="roundRect">
            <a:avLst>
              <a:gd name="adj" fmla="val 10345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6"/>
          <p:cNvSpPr/>
          <p:nvPr/>
        </p:nvSpPr>
        <p:spPr>
          <a:xfrm>
            <a:off x="365760" y="3575304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توفير فرص متساوية للترقية الوظيفية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40880" y="4270248"/>
            <a:ext cx="457200" cy="457200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8"/>
          <p:cNvSpPr/>
          <p:nvPr/>
        </p:nvSpPr>
        <p:spPr>
          <a:xfrm>
            <a:off x="704088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4320" y="4197096"/>
            <a:ext cx="6583680" cy="530352"/>
          </a:xfrm>
          <a:prstGeom prst="roundRect">
            <a:avLst>
              <a:gd name="adj" fmla="val 10345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365760" y="4197096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توفير ظروف عمل ملائمة وصحية مع تحديد أوقات الراحة والإجازات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 في العمل — النصوص الدولية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1828800"/>
          </a:xfrm>
          <a:prstGeom prst="roundRect">
            <a:avLst>
              <a:gd name="adj" fmla="val 5000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8503920" y="1097280"/>
            <a:ext cx="365760" cy="1828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المادة (23) من الإعلان العالمي لحقوق الإنسان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"لكل شخص حق العمل، وفي حرية اختيار عمله، وفي شروط عمل عادلة ومرضية، وفي الحماية من البطالة"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31089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الضمان الاجتماعي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36118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هو نظام يكفل المعونة للمواطنين في حالات الشيخوخة والمرض والكوارث وغيرها من الحالات المسببة للعجز. وقد أشارت إليه المادة (3) من العهد الدولي للحقوق الاقتصادية والاجتماعية.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ثانياً: حق الملكية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التعريف والطبيعة القانونية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 الملكية هو أحد الحقوق العينية الأصلية الذي يُخوّل صاحبه سلطة مباشرة على شيء ذي طبيعة مالية، وهو حق ذو وظيفة اجتماعية في خدمة الاقتصاد العام للدولة.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2423160"/>
            <a:ext cx="2834640" cy="2377440"/>
          </a:xfrm>
          <a:prstGeom prst="rect">
            <a:avLst/>
          </a:prstGeom>
          <a:solidFill>
            <a:srgbClr val="1E4DA1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Shape 5"/>
          <p:cNvSpPr/>
          <p:nvPr/>
        </p:nvSpPr>
        <p:spPr>
          <a:xfrm>
            <a:off x="182880" y="2423160"/>
            <a:ext cx="2834640" cy="640080"/>
          </a:xfrm>
          <a:prstGeom prst="rect">
            <a:avLst/>
          </a:prstGeom>
          <a:solidFill>
            <a:srgbClr val="0D1E3A"/>
          </a:solidFill>
          <a:ln w="12700">
            <a:solidFill>
              <a:srgbClr val="0D1E3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6"/>
          <p:cNvSpPr/>
          <p:nvPr/>
        </p:nvSpPr>
        <p:spPr>
          <a:xfrm>
            <a:off x="228600" y="2423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المادة 17</a:t>
            </a:r>
            <a:endParaRPr lang="en-US" sz="1200" dirty="0"/>
          </a:p>
          <a:p>
            <a:pPr marL="0" indent="0" algn="ctr" rtl="1"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الإعلان العالمي 1948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10896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 كل فرد في التملك سواء بمفرده أو مع غيره، وعدم جواز تجريد شخص من ملكه تعسفاً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2423160"/>
            <a:ext cx="2834640" cy="237744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Shape 9"/>
          <p:cNvSpPr/>
          <p:nvPr/>
        </p:nvSpPr>
        <p:spPr>
          <a:xfrm>
            <a:off x="3154680" y="2423160"/>
            <a:ext cx="2834640" cy="640080"/>
          </a:xfrm>
          <a:prstGeom prst="rect">
            <a:avLst/>
          </a:prstGeom>
          <a:solidFill>
            <a:srgbClr val="0D1E3A"/>
          </a:solidFill>
          <a:ln w="12700">
            <a:solidFill>
              <a:srgbClr val="0D1E3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10"/>
          <p:cNvSpPr/>
          <p:nvPr/>
        </p:nvSpPr>
        <p:spPr>
          <a:xfrm>
            <a:off x="3200400" y="2423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اتفاقية</a:t>
            </a:r>
            <a:endParaRPr lang="en-US" sz="1200" dirty="0"/>
          </a:p>
          <a:p>
            <a:pPr marL="0" indent="0" algn="ctr" rtl="1"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التمييز العنصري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310896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المادة الخامسة — أقرّت بحق الملكية وحظرت التمييز في الحصول عليه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423160"/>
            <a:ext cx="2834640" cy="237744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Shape 13"/>
          <p:cNvSpPr/>
          <p:nvPr/>
        </p:nvSpPr>
        <p:spPr>
          <a:xfrm>
            <a:off x="6126480" y="2423160"/>
            <a:ext cx="2834640" cy="640080"/>
          </a:xfrm>
          <a:prstGeom prst="rect">
            <a:avLst/>
          </a:prstGeom>
          <a:solidFill>
            <a:srgbClr val="0D1E3A"/>
          </a:solidFill>
          <a:ln w="12700">
            <a:solidFill>
              <a:srgbClr val="0D1E3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4"/>
          <p:cNvSpPr/>
          <p:nvPr/>
        </p:nvSpPr>
        <p:spPr>
          <a:xfrm>
            <a:off x="6172200" y="2423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إعلان القضاء</a:t>
            </a:r>
            <a:endParaRPr lang="en-US" sz="1200" dirty="0"/>
          </a:p>
          <a:p>
            <a:pPr marL="0" indent="0" algn="ctr" rtl="1"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التمييز ضد المرأة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310896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صادر عن الجمعية العامة للأمم المتحدة عام 1967 — يؤكد حق المرأة في الملكية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 الملكية — الدستور المصري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8503920" y="1097280"/>
            <a:ext cx="365760" cy="155448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المادة (35)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الملكية الخاصة مصونة وحق الإرث فيها مكفول. ولا تنزع الملكية إلا للمنفعة العامة ومقابل تعويض يُدفع مقدماً وفقاً للقانون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926080"/>
            <a:ext cx="8595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8503920" y="2926080"/>
            <a:ext cx="365760" cy="155448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المادة (40)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المصادرة العامة للأموال محظورة، ولا يجوز المصادرة الخاصة إلا بحكم قضائي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0" y="4663440"/>
            <a:ext cx="1463040" cy="3657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3840480" y="4663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حماية دستورية شاملة لحق الملكية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ثالثاً: الحق في مستوى معيشي مناسب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371600"/>
          </a:xfrm>
          <a:prstGeom prst="roundRect">
            <a:avLst>
              <a:gd name="adj" fmla="val 5333"/>
            </a:avLst>
          </a:prstGeom>
          <a:solidFill>
            <a:srgbClr val="E6F3F5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0A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المادة (25/1) — الإعلان العالمي لحقوق الإنسان: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"لكل شخص الحق في مستوى من المعيشة كافٍ للمحافظة على الصحة والرفاهية له ولأسرته"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51460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6"/>
          <p:cNvSpPr/>
          <p:nvPr/>
        </p:nvSpPr>
        <p:spPr>
          <a:xfrm>
            <a:off x="274320" y="25603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🍎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32004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التغذية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93392" y="251460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1993392" y="25603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993392" y="32004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الملبس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12464" y="251460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2"/>
          <p:cNvSpPr/>
          <p:nvPr/>
        </p:nvSpPr>
        <p:spPr>
          <a:xfrm>
            <a:off x="3712464" y="25603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712464" y="32004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المسكن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31536" y="251460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5"/>
          <p:cNvSpPr/>
          <p:nvPr/>
        </p:nvSpPr>
        <p:spPr>
          <a:xfrm>
            <a:off x="5431536" y="25603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31536" y="32004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الرعاية الطبية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50608" y="251460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8"/>
          <p:cNvSpPr/>
          <p:nvPr/>
        </p:nvSpPr>
        <p:spPr>
          <a:xfrm>
            <a:off x="7150608" y="25603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50608" y="32004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الخدمات الاجتماعية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0690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الدستور المصري — المادة (79):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مواطن الحق في غذاء صحي وكافٍ، وماء نظيف، وتلتزم الدولة بتأمين المواد الغذائية وكفالة السيادة الغذائية بشكل مستدام.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رابعاً: الحق في الصحة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أساس الحق في الصحة دولياً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9B2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المادة (12) من العهد الدولي بشأن الحقوق الاقتصادية والاجتماعية والثقافية 1966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 كل إنسان في مستوى مرتفع من مستويات الصحة البدنية والعقلية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6974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التزامات الدول الأطراف: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3200400"/>
            <a:ext cx="502920" cy="502920"/>
          </a:xfrm>
          <a:prstGeom prst="ellipse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804672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3200400"/>
            <a:ext cx="7589520" cy="438912"/>
          </a:xfrm>
          <a:prstGeom prst="roundRect">
            <a:avLst>
              <a:gd name="adj" fmla="val 10417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10"/>
          <p:cNvSpPr/>
          <p:nvPr/>
        </p:nvSpPr>
        <p:spPr>
          <a:xfrm>
            <a:off x="365760" y="3200400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خفض نسبة الوفيات وضمان النمو الصحي للطفل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3730752"/>
            <a:ext cx="502920" cy="502920"/>
          </a:xfrm>
          <a:prstGeom prst="ellipse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2"/>
          <p:cNvSpPr/>
          <p:nvPr/>
        </p:nvSpPr>
        <p:spPr>
          <a:xfrm>
            <a:off x="804672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" y="3730752"/>
            <a:ext cx="7589520" cy="438912"/>
          </a:xfrm>
          <a:prstGeom prst="roundRect">
            <a:avLst>
              <a:gd name="adj" fmla="val 10417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4"/>
          <p:cNvSpPr/>
          <p:nvPr/>
        </p:nvSpPr>
        <p:spPr>
          <a:xfrm>
            <a:off x="365760" y="3730752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تحسين جوانب الصحة البيئية والصناعية والمهنية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4261104"/>
            <a:ext cx="502920" cy="502920"/>
          </a:xfrm>
          <a:prstGeom prst="ellipse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6"/>
          <p:cNvSpPr/>
          <p:nvPr/>
        </p:nvSpPr>
        <p:spPr>
          <a:xfrm>
            <a:off x="8046720" y="4261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" y="4261104"/>
            <a:ext cx="7589520" cy="438912"/>
          </a:xfrm>
          <a:prstGeom prst="roundRect">
            <a:avLst>
              <a:gd name="adj" fmla="val 10417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8"/>
          <p:cNvSpPr/>
          <p:nvPr/>
        </p:nvSpPr>
        <p:spPr>
          <a:xfrm>
            <a:off x="365760" y="4261104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الوقاية من الأمراض ومعالجتها ومكافحتها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DA1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 في الصحة — الدستور المصري 2014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المادة (18) — ضمانات الرعاية الصحية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046720" y="1600200"/>
            <a:ext cx="457200" cy="640080"/>
          </a:xfrm>
          <a:prstGeom prst="rect">
            <a:avLst/>
          </a:prstGeom>
          <a:solidFill>
            <a:srgbClr val="1E4DA1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7589520" cy="640080"/>
          </a:xfrm>
          <a:prstGeom prst="roundRect">
            <a:avLst>
              <a:gd name="adj" fmla="val 8571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مواطن الحق في الصحة والرعاية الصحية المتكاملة وفقاً لمعايير الجودة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0" y="2377440"/>
            <a:ext cx="457200" cy="64008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7589520" cy="640080"/>
          </a:xfrm>
          <a:prstGeom prst="roundRect">
            <a:avLst>
              <a:gd name="adj" fmla="val 8571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تخصيص ما لا يقل عن 3% من الناتج القومي الإجمالي للإنفاق الصحي تتصاعد تدريجياً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3154680"/>
            <a:ext cx="457200" cy="64008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Shape 10"/>
          <p:cNvSpPr/>
          <p:nvPr/>
        </p:nvSpPr>
        <p:spPr>
          <a:xfrm>
            <a:off x="274320" y="3154680"/>
            <a:ext cx="7589520" cy="640080"/>
          </a:xfrm>
          <a:prstGeom prst="roundRect">
            <a:avLst>
              <a:gd name="adj" fmla="val 8571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365760" y="31546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إقامة نظام تأمين صحي شامل لجميع المصريين يغطي كل الأمراض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3931920"/>
            <a:ext cx="457200" cy="64008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Shape 13"/>
          <p:cNvSpPr/>
          <p:nvPr/>
        </p:nvSpPr>
        <p:spPr>
          <a:xfrm>
            <a:off x="274320" y="3931920"/>
            <a:ext cx="7589520" cy="640080"/>
          </a:xfrm>
          <a:prstGeom prst="roundRect">
            <a:avLst>
              <a:gd name="adj" fmla="val 8571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تجريم الامتناع عن تقديم العلاج لكل إنسان في حالات الطوارئ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خامساً: الحقوق الثقافية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D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تُشكِّل الحقوق الثقافية ركيزةً محوريةً في بناء المجتمعات الإنسانية المتطورة، إذ تُعتبر ضمانةً لصون الكرامة الإنسانية وتعزيز المشاركة المدنية الفاعلة.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9B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المرجعية الدولية: الإعلان العالمي لحقوق الإنسان — المادة (26)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26517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والعهد الدولي الخاص بالحقوق الاقتصادية والاجتماعية والثقافية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315468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F5D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الهدف: توجيه الثقافة لخدمة التنمية الشاملة للشخصية الإنسانية وتمكينها من الإسهام في النشاط المجتمعي الحر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الحقوق الثقافية — الركائز الأساسية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4114800" y="1051560"/>
            <a:ext cx="365760" cy="10972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474720" y="1353312"/>
            <a:ext cx="502920" cy="502920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347472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143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التعليم الأساسي الإلزامي والمجاني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ضمان تكافؤ الفرص دون تمييز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1" name="Shape 9"/>
          <p:cNvSpPr/>
          <p:nvPr/>
        </p:nvSpPr>
        <p:spPr>
          <a:xfrm>
            <a:off x="8595360" y="1051560"/>
            <a:ext cx="365760" cy="10972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Shape 10"/>
          <p:cNvSpPr/>
          <p:nvPr/>
        </p:nvSpPr>
        <p:spPr>
          <a:xfrm>
            <a:off x="7955280" y="1353312"/>
            <a:ext cx="502920" cy="502920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795528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143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تعميم التعليم الثانوي والتقني والمهني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عبر سياسات تخفف العوائق المادية والجغرافية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233172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4114800" y="2331720"/>
            <a:ext cx="365760" cy="10972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Shape 16"/>
          <p:cNvSpPr/>
          <p:nvPr/>
        </p:nvSpPr>
        <p:spPr>
          <a:xfrm>
            <a:off x="3474720" y="2633472"/>
            <a:ext cx="502920" cy="502920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Text 17"/>
          <p:cNvSpPr/>
          <p:nvPr/>
        </p:nvSpPr>
        <p:spPr>
          <a:xfrm>
            <a:off x="347472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إتاحة التعليم العالي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2880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وفق معايير الجدارة الأكاديمية مع دعم الفئات المهمشة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33172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23" name="Shape 21"/>
          <p:cNvSpPr/>
          <p:nvPr/>
        </p:nvSpPr>
        <p:spPr>
          <a:xfrm>
            <a:off x="8595360" y="2331720"/>
            <a:ext cx="365760" cy="10972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4" name="Shape 22"/>
          <p:cNvSpPr/>
          <p:nvPr/>
        </p:nvSpPr>
        <p:spPr>
          <a:xfrm>
            <a:off x="7955280" y="2633472"/>
            <a:ext cx="502920" cy="502920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5" name="Text 23"/>
          <p:cNvSpPr/>
          <p:nvPr/>
        </p:nvSpPr>
        <p:spPr>
          <a:xfrm>
            <a:off x="795528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تطوير المناهج التعليمية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2880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لترسيخ قيم الحوار والمواطنة وربطها بالتنمية المستدامة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" y="361188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29" name="Shape 27"/>
          <p:cNvSpPr/>
          <p:nvPr/>
        </p:nvSpPr>
        <p:spPr>
          <a:xfrm>
            <a:off x="4114800" y="3611880"/>
            <a:ext cx="365760" cy="10972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0" name="Shape 28"/>
          <p:cNvSpPr/>
          <p:nvPr/>
        </p:nvSpPr>
        <p:spPr>
          <a:xfrm>
            <a:off x="3474720" y="3913632"/>
            <a:ext cx="502920" cy="502920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1" name="Text 29"/>
          <p:cNvSpPr/>
          <p:nvPr/>
        </p:nvSpPr>
        <p:spPr>
          <a:xfrm>
            <a:off x="3474720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74320" y="3703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حماية الحريات الأكاديمية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74320" y="4160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وضمان حق الوالدين في اختيار النموذج التعليمي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61188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35" name="Shape 33"/>
          <p:cNvSpPr/>
          <p:nvPr/>
        </p:nvSpPr>
        <p:spPr>
          <a:xfrm>
            <a:off x="8595360" y="3611880"/>
            <a:ext cx="365760" cy="10972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6" name="Shape 34"/>
          <p:cNvSpPr/>
          <p:nvPr/>
        </p:nvSpPr>
        <p:spPr>
          <a:xfrm>
            <a:off x="7955280" y="3913632"/>
            <a:ext cx="502920" cy="502920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7" name="Text 35"/>
          <p:cNvSpPr/>
          <p:nvPr/>
        </p:nvSpPr>
        <p:spPr>
          <a:xfrm>
            <a:off x="7955280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54880" y="3703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تنظيم المؤسسات التعليمية الخاصة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54880" y="4160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بشرط التزامها بالمعايير الوطنية المعتمدة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57200"/>
            <a:ext cx="6400800" cy="4114800"/>
          </a:xfrm>
          <a:prstGeom prst="ellipse">
            <a:avLst/>
          </a:prstGeom>
          <a:solidFill>
            <a:srgbClr val="12254D">
              <a:alpha val="70000"/>
            </a:srgbClr>
          </a:solidFill>
          <a:ln w="12700">
            <a:solidFill>
              <a:srgbClr val="12254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40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الحقوق الجماعية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الجيل الثالث — حقوق التضامن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2194560"/>
            <a:ext cx="64008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dirty="0">
                <a:solidFill>
                  <a:srgbClr val="9B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تجاوزت حقوق الإنسان التركيزَ على الحقوق الفردية إلى إقرار حقوق جماعية تستلزم تضامناً دولياً وتنظيماً مؤسسياً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1828800" cy="640080"/>
          </a:xfrm>
          <a:prstGeom prst="ellipse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 في التنمية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3383280"/>
            <a:ext cx="1828800" cy="640080"/>
          </a:xfrm>
          <a:prstGeom prst="ellipse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2606040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 في بيئة صحية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3383280"/>
            <a:ext cx="1828800" cy="640080"/>
          </a:xfrm>
          <a:prstGeom prst="ellipse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10"/>
          <p:cNvSpPr/>
          <p:nvPr/>
        </p:nvSpPr>
        <p:spPr>
          <a:xfrm>
            <a:off x="4663440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 في السلام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3383280"/>
            <a:ext cx="1828800" cy="640080"/>
          </a:xfrm>
          <a:prstGeom prst="ellipse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2"/>
          <p:cNvSpPr/>
          <p:nvPr/>
        </p:nvSpPr>
        <p:spPr>
          <a:xfrm>
            <a:off x="6720840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 في تقرير المصير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أولاً: الحق في التنمية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1986 — أقرّت الجمعية العامة للأمم المتحدة رسمياً مفهوم الحق في التنمية بإعلان تاريخي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20574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مكونات الحق في التنمية: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25603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E4DA1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6"/>
          <p:cNvSpPr/>
          <p:nvPr/>
        </p:nvSpPr>
        <p:spPr>
          <a:xfrm>
            <a:off x="27432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الاقتصادية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450592" y="25603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2450592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السياسية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26864" y="25603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10"/>
          <p:cNvSpPr/>
          <p:nvPr/>
        </p:nvSpPr>
        <p:spPr>
          <a:xfrm>
            <a:off x="4626864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الاجتماعية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03136" y="25603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2"/>
          <p:cNvSpPr/>
          <p:nvPr/>
        </p:nvSpPr>
        <p:spPr>
          <a:xfrm>
            <a:off x="6803136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الثقافية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" y="3337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33375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تحقيق تحسّن مستمر ومستدام في رفاهية جميع الأفراد وضمان العدالة الاجتماعية والاقتصادية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39776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" y="39776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وسيلة أساسية لتجميع موارد المجتمع لمكافحة عدم المساواة والتمييز والفقر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 في التنمية — المرجعية الدولية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0" y="1371600"/>
            <a:ext cx="1005840" cy="1005840"/>
          </a:xfrm>
          <a:prstGeom prst="ellipse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7772400" y="13716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0" y="1874520"/>
            <a:ext cx="640080" cy="0"/>
          </a:xfrm>
          <a:prstGeom prst="line">
            <a:avLst/>
          </a:prstGeom>
          <a:noFill/>
          <a:ln w="254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6766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تبنّت لجنة الأمم المتحدة لحقوق الإنسان توصية بالاعتراف الدولي بحق التنمية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2606040"/>
            <a:ext cx="1005840" cy="1005840"/>
          </a:xfrm>
          <a:prstGeom prst="ellipse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7772400" y="26060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0" y="3108960"/>
            <a:ext cx="640080" cy="0"/>
          </a:xfrm>
          <a:prstGeom prst="line">
            <a:avLst/>
          </a:prstGeom>
          <a:noFill/>
          <a:ln w="254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6766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457200" y="23317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إعلان الجمعية العامة للأمم المتحدة — الحق في التنمية حق أساسي لا يمكن فصله عن بقية الحقوق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0" y="3840480"/>
            <a:ext cx="1005840" cy="1005840"/>
          </a:xfrm>
          <a:prstGeom prst="ellipse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3"/>
          <p:cNvSpPr/>
          <p:nvPr/>
        </p:nvSpPr>
        <p:spPr>
          <a:xfrm>
            <a:off x="7772400" y="38404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التعريف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32320" y="4343400"/>
            <a:ext cx="640080" cy="0"/>
          </a:xfrm>
          <a:prstGeom prst="line">
            <a:avLst/>
          </a:prstGeom>
          <a:noFill/>
          <a:ln w="254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6766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 شامل ومتكامل يجمع حقوق الإنسان المعترف بها ويعمل على تعزيز إقامة نظام اقتصادي دولي عادل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ثانياً: الحق في بيئة صحية ونظيفة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التعريف: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سلطة كل إنسان في العيش في وسط حيوي بيئي متوازن وسليم والتمتع بموارد الطبيعة على نحو يكفل له حياة لائقة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645920" cy="1645920"/>
          </a:xfrm>
          <a:prstGeom prst="ellipse">
            <a:avLst/>
          </a:prstGeom>
          <a:solidFill>
            <a:srgbClr val="1E4DA1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💨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الهواء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2240280"/>
            <a:ext cx="1645920" cy="1645920"/>
          </a:xfrm>
          <a:prstGeom prst="ellipse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2560320" y="2286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💧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60320" y="31089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240280"/>
            <a:ext cx="1645920" cy="1645920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4663440" y="2286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🌱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31089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التربة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2240280"/>
            <a:ext cx="1645920" cy="1645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4"/>
          <p:cNvSpPr/>
          <p:nvPr/>
        </p:nvSpPr>
        <p:spPr>
          <a:xfrm>
            <a:off x="6766560" y="2286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🌿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66560" y="31089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التنوع البيولوجي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39776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حق الإنسان في البيئة له علاقة وطيدة بكل أجيال حقوق الإنسان — فلا حياة بدون بيئة نظيفة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 في البيئة — الأطر الدولية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834640" cy="548640"/>
          </a:xfrm>
          <a:prstGeom prst="rect">
            <a:avLst/>
          </a:prstGeom>
          <a:solidFill>
            <a:srgbClr val="1E4DA1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1143000" y="1554480"/>
            <a:ext cx="914400" cy="914400"/>
          </a:xfrm>
          <a:prstGeom prst="ellipse">
            <a:avLst/>
          </a:prstGeom>
          <a:solidFill>
            <a:srgbClr val="1E4DA1">
              <a:alpha val="80000"/>
            </a:srgbClr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114300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📜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إعلان استوكهولم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5146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 ظهور دولي للحق في البيئة — أرسى أُسس القانون البيئي الدولي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834640" cy="54864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Shape 10"/>
          <p:cNvSpPr/>
          <p:nvPr/>
        </p:nvSpPr>
        <p:spPr>
          <a:xfrm>
            <a:off x="4114800" y="1554480"/>
            <a:ext cx="914400" cy="914400"/>
          </a:xfrm>
          <a:prstGeom prst="ellipse">
            <a:avLst/>
          </a:prstGeom>
          <a:solidFill>
            <a:srgbClr val="1A6B4A">
              <a:alpha val="80000"/>
            </a:srgbClr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411480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📜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إعلان ريو 1992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5146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المبدأ الأول: للإنسان الحق في أن يحيا حياة صحية ومنتجة في وئام مع الطبيعة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834640" cy="54864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Shape 16"/>
          <p:cNvSpPr/>
          <p:nvPr/>
        </p:nvSpPr>
        <p:spPr>
          <a:xfrm>
            <a:off x="7086600" y="1554480"/>
            <a:ext cx="914400" cy="914400"/>
          </a:xfrm>
          <a:prstGeom prst="ellipse">
            <a:avLst/>
          </a:prstGeom>
          <a:solidFill>
            <a:srgbClr val="0A7B8C">
              <a:alpha val="80000"/>
            </a:srgbClr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Text 17"/>
          <p:cNvSpPr/>
          <p:nvPr/>
        </p:nvSpPr>
        <p:spPr>
          <a:xfrm>
            <a:off x="708660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📜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7220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العهد الدولي للحقوق</a:t>
            </a:r>
            <a:endParaRPr lang="en-US" sz="1300" dirty="0"/>
          </a:p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الاقتصادية 1966 — م12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5146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 كل فرد في التمتع بأعلى مستوى ممكن من الصحة البدنية والعقلية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هذا الحق ليس فردياً فحسب، بل هو حق جماعي يرتبط بمستقبل الأجيال القادمة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ثالثاً: الحق في السلام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143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9B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التعريف: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الحالة الآمنة والمستقرة التي تسمح للإنسان بممارسة أمور حياته بعيداً عن الخطر وتأمين معيشته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2286000"/>
            <a:ext cx="2834640" cy="2103120"/>
          </a:xfrm>
          <a:prstGeom prst="roundRect">
            <a:avLst>
              <a:gd name="adj" fmla="val 4348"/>
            </a:avLst>
          </a:prstGeom>
          <a:solidFill>
            <a:srgbClr val="1E4DA1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Shape 5"/>
          <p:cNvSpPr/>
          <p:nvPr/>
        </p:nvSpPr>
        <p:spPr>
          <a:xfrm>
            <a:off x="1143000" y="2331720"/>
            <a:ext cx="914400" cy="914400"/>
          </a:xfrm>
          <a:prstGeom prst="ellipse">
            <a:avLst/>
          </a:prstGeom>
          <a:solidFill>
            <a:srgbClr val="0D1E3A">
              <a:alpha val="70000"/>
            </a:srgbClr>
          </a:solidFill>
          <a:ln w="12700">
            <a:solidFill>
              <a:srgbClr val="0D1E3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6"/>
          <p:cNvSpPr/>
          <p:nvPr/>
        </p:nvSpPr>
        <p:spPr>
          <a:xfrm>
            <a:off x="114300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3337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السلام الدولي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37490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السلامة من ويلات الحروب والنزاعات المسلحة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2286000"/>
            <a:ext cx="2834640" cy="2103120"/>
          </a:xfrm>
          <a:prstGeom prst="roundRect">
            <a:avLst>
              <a:gd name="adj" fmla="val 4348"/>
            </a:avLst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Shape 10"/>
          <p:cNvSpPr/>
          <p:nvPr/>
        </p:nvSpPr>
        <p:spPr>
          <a:xfrm>
            <a:off x="4114800" y="2331720"/>
            <a:ext cx="914400" cy="914400"/>
          </a:xfrm>
          <a:prstGeom prst="ellipse">
            <a:avLst/>
          </a:prstGeom>
          <a:solidFill>
            <a:srgbClr val="0D1E3A">
              <a:alpha val="70000"/>
            </a:srgbClr>
          </a:solidFill>
          <a:ln w="12700">
            <a:solidFill>
              <a:srgbClr val="0D1E3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411480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🏳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46120" y="3337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السلام الوطني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6120" y="37490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سلامة أرض الوطن وتماسك المجتمع الداخلي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286000"/>
            <a:ext cx="2834640" cy="2103120"/>
          </a:xfrm>
          <a:prstGeom prst="roundRect">
            <a:avLst>
              <a:gd name="adj" fmla="val 4348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7086600" y="2331720"/>
            <a:ext cx="914400" cy="914400"/>
          </a:xfrm>
          <a:prstGeom prst="ellipse">
            <a:avLst/>
          </a:prstGeom>
          <a:solidFill>
            <a:srgbClr val="0D1E3A">
              <a:alpha val="70000"/>
            </a:srgbClr>
          </a:solidFill>
          <a:ln w="12700">
            <a:solidFill>
              <a:srgbClr val="0D1E3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6"/>
          <p:cNvSpPr/>
          <p:nvPr/>
        </p:nvSpPr>
        <p:spPr>
          <a:xfrm>
            <a:off x="708660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17920" y="3337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السلام الذاتي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37490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السلام الذي يستهدف المدينة والفرد في حياته اليومية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DA1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 في السلام — الإطار الدولي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280160"/>
          </a:xfrm>
          <a:prstGeom prst="roundRect">
            <a:avLst>
              <a:gd name="adj" fmla="val 7143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ميثاق الأمم المتحدة — الديباجة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"نحن شعوب الأمم المتحدة وقد آلينا على أنفسنا أن ننقذ الأجيال المقبلة من ويلات الحرب"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423160"/>
            <a:ext cx="8595360" cy="1143000"/>
          </a:xfrm>
          <a:prstGeom prst="roundRect">
            <a:avLst>
              <a:gd name="adj" fmla="val 6400"/>
            </a:avLst>
          </a:prstGeom>
          <a:solidFill>
            <a:srgbClr val="E6F0FA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E4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إعلان الجمعية العامة — 12 نوفمبر 1984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الحياة دون حرب هي الشرط الدولي الأساسي للرفاهية المادية ولتنمية البلدان وتقدمها والتنفيذ التام لكافة الحقوق والحريات الأساسية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3703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9B2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التسلح النووي — التحدي الأكبر أمام الحق في السلام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دفع سباق التسلح شعوب العالم إلى المطالبة بالحد من الصراعات توّج بإعلانات دولية لصون السلام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1E4DA1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رابعاً: الحق في تقرير المصير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منح الشعوب والأمم القدرة على اختيار شكل الحكم الذي تريده وتحديد مسار تنميتها بشكل حر ومستقل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الشروط الأساسية لفعالية هذا الحق: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233172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1E4DA1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Shape 5"/>
          <p:cNvSpPr/>
          <p:nvPr/>
        </p:nvSpPr>
        <p:spPr>
          <a:xfrm>
            <a:off x="1920240" y="2377440"/>
            <a:ext cx="914400" cy="9144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6"/>
          <p:cNvSpPr/>
          <p:nvPr/>
        </p:nvSpPr>
        <p:spPr>
          <a:xfrm>
            <a:off x="192024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34290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الشرط الأول</a:t>
            </a:r>
            <a:endParaRPr lang="en-US" sz="1400" dirty="0"/>
          </a:p>
          <a:p>
            <a:pPr marL="0" indent="0" algn="ctr" rtl="1">
              <a:buNone/>
            </a:pPr>
            <a:r>
              <a:rPr lang="en-US" sz="14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استقلالية الدولة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931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السيادة الكاملة والتحرر من التدخل الخارجي والهيمنة الأجنبية على الموارد والثروات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233172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Shape 10"/>
          <p:cNvSpPr/>
          <p:nvPr/>
        </p:nvSpPr>
        <p:spPr>
          <a:xfrm>
            <a:off x="6355080" y="2377440"/>
            <a:ext cx="914400" cy="9144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635508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🏛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00600" y="34290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الشرط الثاني</a:t>
            </a:r>
            <a:endParaRPr lang="en-US" sz="1400" dirty="0"/>
          </a:p>
          <a:p>
            <a:pPr marL="0" indent="0" algn="ctr" rtl="1">
              <a:buNone/>
            </a:pPr>
            <a:r>
              <a:rPr lang="en-US" sz="14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وحدة الدولة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931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يمكن لدولة تعاني الانقسامات الداخلية والحروب الأهلية أن تحقق هذا الحق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المصير — النصوص الدولية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371600" cy="1097280"/>
          </a:xfrm>
          <a:prstGeom prst="rect">
            <a:avLst/>
          </a:prstGeom>
          <a:solidFill>
            <a:srgbClr val="1E4DA1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1514</a:t>
            </a:r>
            <a:endParaRPr lang="en-US" sz="1300" dirty="0"/>
          </a:p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(1960)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37360" y="1005840"/>
            <a:ext cx="7132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1828800" y="100584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منح الاستقلال للأقطار والشعوب المستعمرة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1371600" cy="109728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1803</a:t>
            </a:r>
            <a:endParaRPr lang="en-US" sz="1300" dirty="0"/>
          </a:p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(1962)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37360" y="2286000"/>
            <a:ext cx="7132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1828800" y="228600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السيادة الدائمة للدول على مصادرها الطبيعية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1371600" cy="109728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274320" y="35661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المادة الأولى</a:t>
            </a:r>
            <a:endParaRPr lang="en-US" sz="1300" dirty="0"/>
          </a:p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العهدين الدوليين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37360" y="3566160"/>
            <a:ext cx="7132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3"/>
          <p:cNvSpPr/>
          <p:nvPr/>
        </p:nvSpPr>
        <p:spPr>
          <a:xfrm>
            <a:off x="1828800" y="35661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لجميع الشعوب حق تقرير مصيرها — حرة في تقرير مركزها السياسي وتحقيق نمائها الاقتصادي والاجتماعي والثقافي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الدول الأطراف احترام هذا الحق وفقاً لأحكام ميثاق الأمم المتحدة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5006340"/>
            <a:ext cx="9144000" cy="27432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DA1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أجيال حقوق الإنسان الثلاثة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828800" cy="1143000"/>
          </a:xfrm>
          <a:prstGeom prst="rect">
            <a:avLst/>
          </a:prstGeom>
          <a:solidFill>
            <a:srgbClr val="1E4DA1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الجيل الأول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94560" y="1051560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2286000" y="1143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الطبيعة: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حقوق سلبية — الدولة تمتنع عن التدخل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051560"/>
            <a:ext cx="33832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5577840" y="1143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أمثلة: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1463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 الحياة، حرية التعبير، حق التصويت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1828800" cy="114300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274320" y="233172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الجيل الثاني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94560" y="2331720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3"/>
          <p:cNvSpPr/>
          <p:nvPr/>
        </p:nvSpPr>
        <p:spPr>
          <a:xfrm>
            <a:off x="2286000" y="2423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الطبيعة: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2743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حقوق إيجابية — تستلزم تدخل الدولة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2331720"/>
            <a:ext cx="33832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6"/>
          <p:cNvSpPr/>
          <p:nvPr/>
        </p:nvSpPr>
        <p:spPr>
          <a:xfrm>
            <a:off x="557784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أمثلة: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2743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 العمل، الصحة، التعليم، المستوى المعيشي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1828800" cy="114300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Text 19"/>
          <p:cNvSpPr/>
          <p:nvPr/>
        </p:nvSpPr>
        <p:spPr>
          <a:xfrm>
            <a:off x="274320" y="361188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الجيل الثالث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94560" y="3611880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3" name="Text 21"/>
          <p:cNvSpPr/>
          <p:nvPr/>
        </p:nvSpPr>
        <p:spPr>
          <a:xfrm>
            <a:off x="2286000" y="3703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الطبيعة: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4023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حقوق تضامنية — تستلزم تعاوناً دولياً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3611880"/>
            <a:ext cx="33832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6" name="Text 24"/>
          <p:cNvSpPr/>
          <p:nvPr/>
        </p:nvSpPr>
        <p:spPr>
          <a:xfrm>
            <a:off x="557784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أمثلة: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4023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0D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 التنمية، البيئة، السلام، تقرير المصير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الترابط العضوي بين منظومة حقوق الإنسان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91840" y="1371600"/>
            <a:ext cx="2560320" cy="2560320"/>
          </a:xfrm>
          <a:prstGeom prst="ellipse">
            <a:avLst/>
          </a:prstGeom>
          <a:solidFill>
            <a:srgbClr val="1A2E5A"/>
          </a:solidFill>
          <a:ln w="254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3291840" y="137160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كرامة</a:t>
            </a:r>
            <a:endParaRPr lang="en-US" sz="1800" dirty="0"/>
          </a:p>
          <a:p>
            <a:pPr marL="0" indent="0" algn="ctr" rtl="1">
              <a:buNone/>
            </a:pPr>
            <a:r>
              <a:rPr lang="en-US" sz="1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الإنسان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371600" cy="777240"/>
          </a:xfrm>
          <a:prstGeom prst="ellipse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الصحة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371600" cy="777240"/>
          </a:xfrm>
          <a:prstGeom prst="ellipse">
            <a:avLst/>
          </a:prstGeom>
          <a:solidFill>
            <a:srgbClr val="1E4DA1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0" y="1371600"/>
            <a:ext cx="1371600" cy="777240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7132320" y="13716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التنمية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0" y="2926080"/>
            <a:ext cx="1371600" cy="777240"/>
          </a:xfrm>
          <a:prstGeom prst="ellipse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7132320" y="29260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السلام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0" y="4206240"/>
            <a:ext cx="1371600" cy="7772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3"/>
          <p:cNvSpPr/>
          <p:nvPr/>
        </p:nvSpPr>
        <p:spPr>
          <a:xfrm>
            <a:off x="3474720" y="42062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التعليم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حقوق الإنسان منظومة متكاملة وغير قابلة للتجزئة — كل حق يعزز الحقوق الأخرى ويُكملها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5006340"/>
            <a:ext cx="9144000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خلاصة واستنتاجات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046720" y="1325880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80467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7589520" cy="594360"/>
          </a:xfrm>
          <a:prstGeom prst="roundRect">
            <a:avLst>
              <a:gd name="adj" fmla="val 9231"/>
            </a:avLst>
          </a:prstGeom>
          <a:solidFill>
            <a:srgbClr val="1E3D6A"/>
          </a:solidFill>
          <a:ln w="12700">
            <a:solidFill>
              <a:srgbClr val="1E3D6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حقوق الجيل الثاني توجب على الدولة التدخل الإيجابي لضمان الحقوق الاقتصادية والاجتماعية والثقافية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0" y="2029968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Text 7"/>
          <p:cNvSpPr/>
          <p:nvPr/>
        </p:nvSpPr>
        <p:spPr>
          <a:xfrm>
            <a:off x="804672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7589520" cy="594360"/>
          </a:xfrm>
          <a:prstGeom prst="roundRect">
            <a:avLst>
              <a:gd name="adj" fmla="val 9231"/>
            </a:avLst>
          </a:prstGeom>
          <a:solidFill>
            <a:srgbClr val="1E3D6A"/>
          </a:solidFill>
          <a:ln w="12700">
            <a:solidFill>
              <a:srgbClr val="1E3D6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365760" y="1938528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 في العمل والصحة والتعليم هي ركائز أساسية للتنمية البشرية الشاملة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734056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8046720" y="2734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642616"/>
            <a:ext cx="7589520" cy="594360"/>
          </a:xfrm>
          <a:prstGeom prst="roundRect">
            <a:avLst>
              <a:gd name="adj" fmla="val 9231"/>
            </a:avLst>
          </a:prstGeom>
          <a:solidFill>
            <a:srgbClr val="1E3D6A"/>
          </a:solidFill>
          <a:ln w="12700">
            <a:solidFill>
              <a:srgbClr val="1E3D6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3"/>
          <p:cNvSpPr/>
          <p:nvPr/>
        </p:nvSpPr>
        <p:spPr>
          <a:xfrm>
            <a:off x="365760" y="2642616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حقوق الجيل الثالث تتجاوز الحدود الوطنية وتستلزم تعاوناً دولياً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3438144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5"/>
          <p:cNvSpPr/>
          <p:nvPr/>
        </p:nvSpPr>
        <p:spPr>
          <a:xfrm>
            <a:off x="804672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346704"/>
            <a:ext cx="7589520" cy="594360"/>
          </a:xfrm>
          <a:prstGeom prst="roundRect">
            <a:avLst>
              <a:gd name="adj" fmla="val 9231"/>
            </a:avLst>
          </a:prstGeom>
          <a:solidFill>
            <a:srgbClr val="1E3D6A"/>
          </a:solidFill>
          <a:ln w="12700">
            <a:solidFill>
              <a:srgbClr val="1E3D6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Text 17"/>
          <p:cNvSpPr/>
          <p:nvPr/>
        </p:nvSpPr>
        <p:spPr>
          <a:xfrm>
            <a:off x="365760" y="3346704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التنمية والبيئة والسلام حقوق جماعية مترابطة لا يمكن فصلها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0" y="4142232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Text 19"/>
          <p:cNvSpPr/>
          <p:nvPr/>
        </p:nvSpPr>
        <p:spPr>
          <a:xfrm>
            <a:off x="804672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4050792"/>
            <a:ext cx="7589520" cy="594360"/>
          </a:xfrm>
          <a:prstGeom prst="roundRect">
            <a:avLst>
              <a:gd name="adj" fmla="val 9231"/>
            </a:avLst>
          </a:prstGeom>
          <a:solidFill>
            <a:srgbClr val="1E3D6A"/>
          </a:solidFill>
          <a:ln w="12700">
            <a:solidFill>
              <a:srgbClr val="1E3D6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3" name="Text 21"/>
          <p:cNvSpPr/>
          <p:nvPr/>
        </p:nvSpPr>
        <p:spPr>
          <a:xfrm>
            <a:off x="365760" y="4050792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الدساتير الوطنية كالدستور المصري تُرسّخ هذه الحقوق وتُعزز الأطر الدولية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DA1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أبرز المرجعيات الدولية لحقوق الإنسان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20040" cy="658368"/>
          </a:xfrm>
          <a:prstGeom prst="rect">
            <a:avLst/>
          </a:prstGeom>
          <a:solidFill>
            <a:srgbClr val="1E4DA1"/>
          </a:solidFill>
          <a:ln w="12700">
            <a:solidFill>
              <a:srgbClr val="1E4DA1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8229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777240" y="1051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الإعلان العالمي لحقوق الإنسان 1948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38988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م17، م23، م25، م26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19656"/>
            <a:ext cx="320040" cy="65836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685800" y="1819656"/>
            <a:ext cx="8229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777240" y="181965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العهد الدولي للحقوق الاقتصادية والاجتماعية والثقافية 1966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15798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م3، م12 (الصحة والتنمية)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87752"/>
            <a:ext cx="320040" cy="658368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Shape 11"/>
          <p:cNvSpPr/>
          <p:nvPr/>
        </p:nvSpPr>
        <p:spPr>
          <a:xfrm>
            <a:off x="685800" y="2587752"/>
            <a:ext cx="8229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2"/>
          <p:cNvSpPr/>
          <p:nvPr/>
        </p:nvSpPr>
        <p:spPr>
          <a:xfrm>
            <a:off x="777240" y="258775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إعلان الحق في التنمية 1986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926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إقرار رسمي من الجمعية العامة للأمم المتحدة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55848"/>
            <a:ext cx="320040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685800" y="3355848"/>
            <a:ext cx="8229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6"/>
          <p:cNvSpPr/>
          <p:nvPr/>
        </p:nvSpPr>
        <p:spPr>
          <a:xfrm>
            <a:off x="777240" y="335584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إعلان حق الشعوب في السلم 1984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6941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الحياة دون حرب — الشرط الأساسي للرفاهية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123944"/>
            <a:ext cx="320040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Shape 19"/>
          <p:cNvSpPr/>
          <p:nvPr/>
        </p:nvSpPr>
        <p:spPr>
          <a:xfrm>
            <a:off x="685800" y="4123944"/>
            <a:ext cx="8229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777240" y="412394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الدستور المصري 2014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4622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م18، م35، م40، م79، م83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114800"/>
          </a:xfrm>
          <a:prstGeom prst="ellipse">
            <a:avLst/>
          </a:prstGeom>
          <a:solidFill>
            <a:srgbClr val="12254D">
              <a:alpha val="70000"/>
            </a:srgbClr>
          </a:solidFill>
          <a:ln w="12700">
            <a:solidFill>
              <a:srgbClr val="12254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914400" y="2651760"/>
            <a:ext cx="73152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50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حقوق الإنسان — الجيل الثاني والثالث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B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"إن التعليم المجاني والرعاية الصحية والبيئة النظيفة والسلام ليست امتيازات،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9B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 هي حقوق إنسانية أصيلة يجب أن يتمتع بها كل إنسان على وجه الأرض"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1465</Words>
  <Application>Microsoft Office PowerPoint</Application>
  <PresentationFormat>On-screen Show (16:9)</PresentationFormat>
  <Paragraphs>269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حقوق الإنسان - الجيل الثاني والثالث</dc:title>
  <dc:subject>PptxGenJS Presentation</dc:subject>
  <dc:creator>PptxGenJS</dc:creator>
  <cp:lastModifiedBy>Amr Elshinawy</cp:lastModifiedBy>
  <cp:revision>3</cp:revision>
  <dcterms:created xsi:type="dcterms:W3CDTF">2026-04-24T22:15:52Z</dcterms:created>
  <dcterms:modified xsi:type="dcterms:W3CDTF">2026-04-25T10:32:19Z</dcterms:modified>
</cp:coreProperties>
</file>